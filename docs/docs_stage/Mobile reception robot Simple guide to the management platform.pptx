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92" r:id="rId5"/>
    <p:sldId id="293" r:id="rId6"/>
    <p:sldId id="294" r:id="rId7"/>
    <p:sldId id="298" r:id="rId8"/>
    <p:sldId id="265" r:id="rId9"/>
    <p:sldId id="300" r:id="rId10"/>
    <p:sldId id="266" r:id="rId11"/>
    <p:sldId id="267" r:id="rId12"/>
    <p:sldId id="295" r:id="rId13"/>
    <p:sldId id="296" r:id="rId14"/>
    <p:sldId id="297" r:id="rId15"/>
    <p:sldId id="273" r:id="rId16"/>
    <p:sldId id="299" r:id="rId17"/>
    <p:sldId id="301" r:id="rId18"/>
    <p:sldId id="302" r:id="rId19"/>
    <p:sldId id="311" r:id="rId20"/>
    <p:sldId id="310" r:id="rId21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gs" Target="tags/tag66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tags" Target="../tags/tag11.xml"/><Relationship Id="rId4" Type="http://schemas.openxmlformats.org/officeDocument/2006/relationships/image" Target="../media/image6.png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.xml"/><Relationship Id="rId2" Type="http://schemas.openxmlformats.org/officeDocument/2006/relationships/image" Target="../media/image8.png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image" Target="../media/image11.png"/><Relationship Id="rId3" Type="http://schemas.openxmlformats.org/officeDocument/2006/relationships/tags" Target="../tags/tag19.xml"/><Relationship Id="rId2" Type="http://schemas.openxmlformats.org/officeDocument/2006/relationships/image" Target="../media/image10.png"/><Relationship Id="rId1" Type="http://schemas.openxmlformats.org/officeDocument/2006/relationships/tags" Target="../tags/tag1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0.png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image" Target="../media/image19.png"/><Relationship Id="rId1" Type="http://schemas.openxmlformats.org/officeDocument/2006/relationships/tags" Target="../tags/tag52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2.png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tags" Target="../tags/tag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5424"/>
          <a:stretch>
            <a:fillRect/>
          </a:stretch>
        </p:blipFill>
        <p:spPr>
          <a:xfrm>
            <a:off x="536575" y="0"/>
            <a:ext cx="11095355" cy="524954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490220" y="5250180"/>
            <a:ext cx="5605780" cy="13690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Platform management</a:t>
            </a:r>
            <a:r>
              <a:rPr lang="zh-CN" altLang="en-US"/>
              <a:t> for </a:t>
            </a:r>
            <a:r>
              <a:rPr lang="en-US" altLang="zh-CN"/>
              <a:t>mobile reception </a:t>
            </a:r>
            <a:r>
              <a:rPr lang="zh-CN" altLang="en-US"/>
              <a:t>robot </a:t>
            </a:r>
            <a:endParaRPr lang="zh-CN" altLang="en-US"/>
          </a:p>
          <a:p>
            <a:pPr algn="ctr"/>
            <a:r>
              <a:rPr lang="zh-CN" altLang="en-US"/>
              <a:t>  https://usom.gfai-robotics.com/</a:t>
            </a:r>
            <a:endParaRPr lang="zh-CN" altLang="en-US"/>
          </a:p>
          <a:p>
            <a:pPr algn="ctr"/>
            <a:r>
              <a:rPr lang="zh-CN" altLang="en-US"/>
              <a:t>Account:jmfl0886</a:t>
            </a:r>
            <a:endParaRPr lang="zh-CN" altLang="en-US"/>
          </a:p>
          <a:p>
            <a:pPr algn="ctr"/>
            <a:r>
              <a:rPr lang="zh-CN" altLang="en-US"/>
              <a:t>Password: 7pbx1cHW3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172085" y="6267450"/>
            <a:ext cx="9587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After successful login, the left side is the device menu bar, where all settings are made.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635" cy="61048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252710" y="0"/>
            <a:ext cx="1935480" cy="6858635"/>
          </a:xfrm>
          <a:prstGeom prst="rect">
            <a:avLst/>
          </a:prstGeom>
        </p:spPr>
      </p:pic>
      <p:pic>
        <p:nvPicPr>
          <p:cNvPr id="4" name="图片 3" descr="Screenshot_20231221-1754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881620" cy="44335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0" y="4526915"/>
            <a:ext cx="769302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/>
              <a:t>This picture shows the robot home page interface</a:t>
            </a:r>
            <a:r>
              <a:rPr lang="en-US" altLang="zh-CN" sz="1200"/>
              <a:t>(</a:t>
            </a:r>
            <a:r>
              <a:rPr lang="zh-CN" altLang="en-US" sz="1200">
                <a:sym typeface="+mn-ea"/>
              </a:rPr>
              <a:t>此图为机器人主页界面</a:t>
            </a:r>
            <a:r>
              <a:rPr lang="en-US" altLang="zh-CN" sz="1200"/>
              <a:t>)</a:t>
            </a:r>
            <a:r>
              <a:rPr lang="zh-CN" altLang="en-US"/>
              <a:t>.</a:t>
            </a:r>
            <a:endParaRPr lang="zh-CN" altLang="en-US"/>
          </a:p>
          <a:p>
            <a:pPr algn="l"/>
            <a:r>
              <a:rPr lang="zh-CN" altLang="en-US"/>
              <a:t>There are three main functional modules</a:t>
            </a:r>
            <a:r>
              <a:rPr lang="en-US" altLang="zh-CN" sz="1200"/>
              <a:t>(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</a:rPr>
              <a:t>有三个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主要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</a:rPr>
              <a:t>功能模块</a:t>
            </a:r>
            <a:r>
              <a:rPr lang="en-US" altLang="zh-CN" sz="1200"/>
              <a:t>)</a:t>
            </a:r>
            <a:r>
              <a:rPr lang="zh-CN" altLang="en-US"/>
              <a:t>:</a:t>
            </a:r>
            <a:endParaRPr lang="zh-CN" altLang="en-US"/>
          </a:p>
          <a:p>
            <a:pPr marL="285750" indent="-285750" algn="l">
              <a:buFont typeface="Wingdings" panose="05000000000000000000" charset="0"/>
              <a:buChar char="u"/>
            </a:pPr>
            <a:r>
              <a:rPr lang="en-US" altLang="zh-CN" b="1">
                <a:sym typeface="+mn-ea"/>
              </a:rPr>
              <a:t>GUIDED</a:t>
            </a:r>
            <a:r>
              <a:rPr lang="zh-CN" altLang="en-US" sz="1200" b="1">
                <a:sym typeface="+mn-ea"/>
              </a:rPr>
              <a:t>（</a:t>
            </a:r>
            <a:r>
              <a:rPr lang="zh-CN" altLang="en-US" sz="1200" b="1">
                <a:sym typeface="+mn-ea"/>
              </a:rPr>
              <a:t>迎宾导览）</a:t>
            </a:r>
            <a:endParaRPr lang="zh-CN" altLang="en-US" sz="1200" b="1">
              <a:sym typeface="+mn-ea"/>
            </a:endParaRPr>
          </a:p>
          <a:p>
            <a:pPr marL="285750" indent="-285750" algn="l">
              <a:buFont typeface="Wingdings" panose="05000000000000000000" charset="0"/>
              <a:buChar char="u"/>
            </a:pPr>
            <a:r>
              <a:rPr lang="en-US" altLang="zh-CN" b="1">
                <a:sym typeface="+mn-ea"/>
              </a:rPr>
              <a:t>ENQUIRY</a:t>
            </a:r>
            <a:r>
              <a:rPr lang="zh-CN" altLang="en-US" sz="1200" b="1">
                <a:sym typeface="+mn-ea"/>
              </a:rPr>
              <a:t>（咨询服务）</a:t>
            </a:r>
            <a:endParaRPr lang="en-US" altLang="zh-CN" sz="1200" b="1">
              <a:solidFill>
                <a:schemeClr val="tx1"/>
              </a:solidFill>
              <a:sym typeface="+mn-ea"/>
            </a:endParaRPr>
          </a:p>
          <a:p>
            <a:pPr marL="285750" indent="-285750" algn="l">
              <a:buFont typeface="Wingdings" panose="05000000000000000000" charset="0"/>
              <a:buChar char="u"/>
            </a:pPr>
            <a:r>
              <a:rPr lang="en-US" altLang="zh-CN" b="1">
                <a:sym typeface="+mn-ea"/>
              </a:rPr>
              <a:t>FACILITIES</a:t>
            </a:r>
            <a:r>
              <a:rPr lang="zh-CN" altLang="en-US" sz="1200" b="1">
                <a:sym typeface="+mn-ea"/>
              </a:rPr>
              <a:t>（基础设施）</a:t>
            </a:r>
            <a:endParaRPr lang="en-US" altLang="zh-CN" b="1">
              <a:solidFill>
                <a:schemeClr val="tx1"/>
              </a:solidFill>
              <a:sym typeface="+mn-ea"/>
            </a:endParaRPr>
          </a:p>
          <a:p>
            <a:pPr marL="285750" indent="-285750" algn="l">
              <a:buFont typeface="Wingdings" panose="05000000000000000000" charset="0"/>
              <a:buChar char="u"/>
            </a:pPr>
            <a:endParaRPr lang="zh-CN" altLang="en-US"/>
          </a:p>
          <a:p>
            <a:pPr algn="l"/>
            <a:endParaRPr lang="zh-CN" altLang="en-US"/>
          </a:p>
        </p:txBody>
      </p:sp>
      <p:sp>
        <p:nvSpPr>
          <p:cNvPr id="13" name="线形标注 2 12"/>
          <p:cNvSpPr/>
          <p:nvPr>
            <p:custDataLst>
              <p:tags r:id="rId4"/>
            </p:custDataLst>
          </p:nvPr>
        </p:nvSpPr>
        <p:spPr>
          <a:xfrm>
            <a:off x="8454390" y="2080260"/>
            <a:ext cx="1438275" cy="535305"/>
          </a:xfrm>
          <a:prstGeom prst="borderCallout2">
            <a:avLst>
              <a:gd name="adj1" fmla="val 45275"/>
              <a:gd name="adj2" fmla="val 98958"/>
              <a:gd name="adj3" fmla="val 45494"/>
              <a:gd name="adj4" fmla="val 111978"/>
              <a:gd name="adj5" fmla="val 11723"/>
              <a:gd name="adj6" fmla="val 13527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sym typeface="+mn-ea"/>
              </a:rPr>
              <a:t>FACILITIES</a:t>
            </a:r>
            <a:endParaRPr lang="en-US" altLang="zh-CN" sz="1400" b="1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基础设施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)</a:t>
            </a:r>
            <a:endParaRPr lang="en-US" altLang="zh-CN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14" name="线形标注 2 13"/>
          <p:cNvSpPr/>
          <p:nvPr>
            <p:custDataLst>
              <p:tags r:id="rId5"/>
            </p:custDataLst>
          </p:nvPr>
        </p:nvSpPr>
        <p:spPr>
          <a:xfrm>
            <a:off x="8454390" y="4815840"/>
            <a:ext cx="1438275" cy="526415"/>
          </a:xfrm>
          <a:prstGeom prst="borderCallout2">
            <a:avLst>
              <a:gd name="adj1" fmla="val 45275"/>
              <a:gd name="adj2" fmla="val 98958"/>
              <a:gd name="adj3" fmla="val 45494"/>
              <a:gd name="adj4" fmla="val 111978"/>
              <a:gd name="adj5" fmla="val 77340"/>
              <a:gd name="adj6" fmla="val 13726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sym typeface="+mn-ea"/>
              </a:rPr>
              <a:t>ENQUIRY</a:t>
            </a:r>
            <a:endParaRPr lang="en-US" altLang="zh-CN" sz="1400" b="1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咨询服务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)</a:t>
            </a:r>
            <a:endParaRPr lang="en-US" altLang="zh-CN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7" name="线形标注 2 6"/>
          <p:cNvSpPr/>
          <p:nvPr>
            <p:custDataLst>
              <p:tags r:id="rId6"/>
            </p:custDataLst>
          </p:nvPr>
        </p:nvSpPr>
        <p:spPr>
          <a:xfrm>
            <a:off x="8454390" y="5727065"/>
            <a:ext cx="1438275" cy="525145"/>
          </a:xfrm>
          <a:prstGeom prst="borderCallout2">
            <a:avLst>
              <a:gd name="adj1" fmla="val 45275"/>
              <a:gd name="adj2" fmla="val 98958"/>
              <a:gd name="adj3" fmla="val 45494"/>
              <a:gd name="adj4" fmla="val 111978"/>
              <a:gd name="adj5" fmla="val 77340"/>
              <a:gd name="adj6" fmla="val 13726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  <a:sym typeface="+mn-ea"/>
              </a:rPr>
              <a:t>GUIDED</a:t>
            </a:r>
            <a:endParaRPr lang="en-US" altLang="zh-CN" sz="1400" b="1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迎宾导览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)</a:t>
            </a:r>
            <a:endParaRPr lang="en-US" altLang="zh-CN" sz="1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0" y="0"/>
            <a:ext cx="75774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1.</a:t>
            </a:r>
            <a:r>
              <a:rPr lang="zh-CN" altLang="en-US" sz="2400" b="1"/>
              <a:t>Feature card display settings</a:t>
            </a:r>
            <a:r>
              <a:rPr lang="zh-CN" altLang="en-US" sz="1200" b="1"/>
              <a:t>（功能卡片显示设置）</a:t>
            </a:r>
            <a:r>
              <a:rPr lang="zh-CN" altLang="en-US" sz="2400" b="1"/>
              <a:t>:</a:t>
            </a:r>
            <a:endParaRPr lang="zh-CN" altLang="en-US" sz="2400" b="1"/>
          </a:p>
        </p:txBody>
      </p:sp>
      <p:sp>
        <p:nvSpPr>
          <p:cNvPr id="8" name="文本框 7"/>
          <p:cNvSpPr txBox="1"/>
          <p:nvPr/>
        </p:nvSpPr>
        <p:spPr>
          <a:xfrm>
            <a:off x="261620" y="361315"/>
            <a:ext cx="745680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Operation path: As shown in the picture: 1 ==&gt; 2 ==&gt; 3 ==&gt; 4</a:t>
            </a:r>
            <a:r>
              <a:rPr lang="en-US" altLang="zh-CN">
                <a:sym typeface="+mn-ea"/>
              </a:rPr>
              <a:t> ==&gt; 5</a:t>
            </a:r>
            <a:endParaRPr lang="en-US" altLang="zh-CN"/>
          </a:p>
          <a:p>
            <a:r>
              <a:rPr lang="en-US" sz="1200"/>
              <a:t>(</a:t>
            </a:r>
            <a:r>
              <a:rPr lang="en-US" altLang="zh-CN" sz="1200"/>
              <a:t>操作路径如图所示:1 ==&gt; 2 ==&gt; 3 ==&gt; 4</a:t>
            </a:r>
            <a:r>
              <a:rPr lang="en-US" altLang="zh-CN" sz="1200">
                <a:sym typeface="+mn-ea"/>
              </a:rPr>
              <a:t> ==&gt; 5</a:t>
            </a:r>
            <a:r>
              <a:rPr lang="zh-CN" altLang="en-US" sz="1200"/>
              <a:t>）</a:t>
            </a:r>
            <a:endParaRPr lang="zh-CN" altLang="en-US" sz="1200"/>
          </a:p>
        </p:txBody>
      </p:sp>
      <p:sp>
        <p:nvSpPr>
          <p:cNvPr id="3" name="文本框 2"/>
          <p:cNvSpPr txBox="1"/>
          <p:nvPr/>
        </p:nvSpPr>
        <p:spPr>
          <a:xfrm>
            <a:off x="281940" y="939800"/>
            <a:ext cx="1162113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Tip: The mobile reception robot supports three function cards, please do not set other function cards.</a:t>
            </a:r>
            <a:endParaRPr lang="zh-CN" altLang="en-US"/>
          </a:p>
          <a:p>
            <a:r>
              <a:rPr lang="en-US" altLang="zh-CN" sz="1200"/>
              <a:t>(</a:t>
            </a:r>
            <a:r>
              <a:rPr lang="zh-CN" altLang="en-US" sz="1200"/>
              <a:t>提示:移动接待机器人支持三张功能卡，请不要设置其他功能卡）</a:t>
            </a:r>
            <a:endParaRPr lang="zh-CN" altLang="en-US" sz="12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7180" y="2178050"/>
            <a:ext cx="9354690" cy="468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261620" y="592455"/>
            <a:ext cx="10255250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Place the mouse over the arrow position to adjust the card position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(将鼠标悬停在箭头位置上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调整卡片位置).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After the adjustment, the position of the card on the main interface of the robot will also change.</a:t>
            </a:r>
            <a:endParaRPr lang="en-US" altLang="zh-CN"/>
          </a:p>
          <a:p>
            <a:pPr indent="0">
              <a:buFont typeface="Wingdings" panose="05000000000000000000" charset="0"/>
              <a:buNone/>
            </a:pP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(调整后，卡片在机器人主界面上的位置也会发生变化)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Turn off or on Function Modules 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(关闭或打开功能模块)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0" y="0"/>
            <a:ext cx="75774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1.</a:t>
            </a:r>
            <a:r>
              <a:rPr lang="zh-CN" altLang="en-US" sz="2400" b="1"/>
              <a:t>Feature card display settings</a:t>
            </a:r>
            <a:r>
              <a:rPr lang="zh-CN" altLang="en-US" sz="1200" b="1"/>
              <a:t>（功能卡片显示设置）</a:t>
            </a:r>
            <a:r>
              <a:rPr lang="zh-CN" altLang="en-US" sz="2400" b="1"/>
              <a:t>:</a:t>
            </a:r>
            <a:endParaRPr lang="zh-CN" altLang="en-US" sz="2400" b="1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08330" y="2404110"/>
            <a:ext cx="5244465" cy="40595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299835" y="2404110"/>
            <a:ext cx="5224145" cy="40595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837180" y="2178050"/>
            <a:ext cx="9355005" cy="4680000"/>
          </a:xfrm>
          <a:prstGeom prst="rect">
            <a:avLst/>
          </a:prstGeom>
        </p:spPr>
      </p:pic>
      <p:sp>
        <p:nvSpPr>
          <p:cNvPr id="9" name="标题 1"/>
          <p:cNvSpPr txBox="1">
            <a:spLocks noGrp="1"/>
          </p:cNvSpPr>
          <p:nvPr>
            <p:custDataLst>
              <p:tags r:id="rId3"/>
            </p:custDataLst>
          </p:nvPr>
        </p:nvSpPr>
        <p:spPr>
          <a:xfrm>
            <a:off x="0" y="159"/>
            <a:ext cx="10515600" cy="4603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lang="en-US" altLang="zh-CN" sz="2400" b="1">
                <a:latin typeface="+mn-lt"/>
                <a:ea typeface="+mn-ea"/>
                <a:cs typeface="+mn-cs"/>
                <a:sym typeface="+mn-ea"/>
              </a:rPr>
              <a:t>2. Basic function settings of the robot body</a:t>
            </a: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(机器人本体基本功能设置)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03860" y="698500"/>
            <a:ext cx="115703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1.1  When there are multiple robots, please confirm the device number of the target robot before setting it up.</a:t>
            </a:r>
            <a:endParaRPr lang="en-US" altLang="zh-CN"/>
          </a:p>
          <a:p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(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当有多台机器人时，在设置之前请确认目标机器人的设备编号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1.2  </a:t>
            </a:r>
            <a:r>
              <a:rPr lang="zh-CN" altLang="en-US"/>
              <a:t>Please confirm whether the robot is online before setting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设置之前请确认机器人是否在线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/>
              <a:t>.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286385" y="369570"/>
            <a:ext cx="1056767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Operation path, As shown in the picture: 1 ==&gt; 2 ==&gt;</a:t>
            </a:r>
            <a:r>
              <a:rPr lang="en-US" altLang="zh-CN" b="1"/>
              <a:t> </a:t>
            </a:r>
            <a:r>
              <a:rPr lang="en-US" altLang="zh-CN" b="1">
                <a:highlight>
                  <a:srgbClr val="FFFF00"/>
                </a:highlight>
              </a:rPr>
              <a:t>3 </a:t>
            </a:r>
            <a:r>
              <a:rPr lang="en-US" altLang="zh-CN"/>
              <a:t>==&gt; 4</a:t>
            </a:r>
            <a:r>
              <a:rPr lang="en-US" altLang="zh-CN">
                <a:sym typeface="+mn-ea"/>
              </a:rPr>
              <a:t> </a:t>
            </a:r>
            <a:endParaRPr lang="en-US" altLang="zh-CN">
              <a:sym typeface="+mn-ea"/>
            </a:endParaRPr>
          </a:p>
          <a:p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(操作路径，如图所示：1 ==&gt; 2 ==&gt; </a:t>
            </a:r>
            <a:r>
              <a:rPr lang="en-US" altLang="zh-CN" sz="1200" b="1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==&gt; 4)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标题 1"/>
          <p:cNvSpPr txBox="1">
            <a:spLocks noGrp="1"/>
          </p:cNvSpPr>
          <p:nvPr>
            <p:custDataLst>
              <p:tags r:id="rId2"/>
            </p:custDataLst>
          </p:nvPr>
        </p:nvSpPr>
        <p:spPr>
          <a:xfrm>
            <a:off x="0" y="159"/>
            <a:ext cx="10515600" cy="4603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lang="en-US" altLang="zh-CN" sz="2400" b="1">
                <a:latin typeface="+mn-lt"/>
                <a:ea typeface="+mn-ea"/>
                <a:cs typeface="+mn-cs"/>
                <a:sym typeface="+mn-ea"/>
              </a:rPr>
              <a:t>3. Synchronize the robot work map</a:t>
            </a: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(同步机器人工作地图)</a:t>
            </a:r>
            <a:endParaRPr lang="en-US" altLang="zh-CN" sz="1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286385" y="848360"/>
            <a:ext cx="11650980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Tip: Before operating, make sure that you have completed the basic work such as mapping and building points on the robot,</a:t>
            </a:r>
            <a:endParaRPr lang="en-US" altLang="zh-CN"/>
          </a:p>
          <a:p>
            <a:r>
              <a:rPr lang="en-US" altLang="zh-CN"/>
              <a:t>        and have uploaded the map. </a:t>
            </a:r>
            <a:r>
              <a:rPr lang="en-US" altLang="zh-CN">
                <a:highlight>
                  <a:srgbClr val="FFFF00"/>
                </a:highlight>
              </a:rPr>
              <a:t>Please refer to the next page for the operation of uploading maps by robots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.</a:t>
            </a:r>
            <a:endParaRPr lang="en-US" altLang="zh-CN">
              <a:sym typeface="+mn-ea"/>
            </a:endParaRPr>
          </a:p>
          <a:p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(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操作之前请确保在机器人上已完成建图建点等基础工作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并已上传地图。</a:t>
            </a:r>
            <a:r>
              <a:rPr lang="zh-CN" altLang="en-US" sz="120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机器人上传地图操作请见下页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800"/>
              <a:t>        Step 3, when there are multiple maps, select the map that the robot needs to use.</a:t>
            </a:r>
            <a:endParaRPr lang="en-US" altLang="zh-CN" sz="1800"/>
          </a:p>
          <a:p>
            <a:r>
              <a:rPr lang="en-US" altLang="zh-CN" sz="1200"/>
              <a:t>           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步，当有多张地图时，请选择机器人需要使用的地图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837180" y="2178050"/>
            <a:ext cx="9355005" cy="468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091555" y="3618230"/>
            <a:ext cx="6100609" cy="3240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-635" y="1241425"/>
            <a:ext cx="6082105" cy="3240000"/>
          </a:xfrm>
          <a:prstGeom prst="rect">
            <a:avLst/>
          </a:prstGeom>
        </p:spPr>
      </p:pic>
      <p:sp>
        <p:nvSpPr>
          <p:cNvPr id="9" name="标题 1"/>
          <p:cNvSpPr txBox="1">
            <a:spLocks noGrp="1"/>
          </p:cNvSpPr>
          <p:nvPr>
            <p:custDataLst>
              <p:tags r:id="rId5"/>
            </p:custDataLst>
          </p:nvPr>
        </p:nvSpPr>
        <p:spPr>
          <a:xfrm>
            <a:off x="0" y="159"/>
            <a:ext cx="10515600" cy="4603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lang="en-US" altLang="zh-CN" sz="2400" b="1">
                <a:latin typeface="+mn-lt"/>
                <a:ea typeface="+mn-ea"/>
                <a:cs typeface="+mn-cs"/>
                <a:sym typeface="+mn-ea"/>
              </a:rPr>
              <a:t>4. Robot uploads the map</a:t>
            </a: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(机器人</a:t>
            </a: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上传</a:t>
            </a: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地图)</a:t>
            </a:r>
            <a:endParaRPr lang="en-US" altLang="zh-CN" sz="1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286385" y="369570"/>
            <a:ext cx="1056767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Operation path, As shown in the picture: 1 ==&gt; 2 ==&gt;</a:t>
            </a:r>
            <a:r>
              <a:rPr lang="en-US" altLang="zh-CN" b="1"/>
              <a:t> </a:t>
            </a:r>
            <a:r>
              <a:rPr lang="en-US" altLang="zh-CN"/>
              <a:t>3</a:t>
            </a:r>
            <a:r>
              <a:rPr lang="en-US" altLang="zh-CN">
                <a:sym typeface="+mn-ea"/>
              </a:rPr>
              <a:t> </a:t>
            </a:r>
            <a:endParaRPr lang="en-US" altLang="zh-CN">
              <a:sym typeface="+mn-ea"/>
            </a:endParaRPr>
          </a:p>
          <a:p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(操作路径，如图所示：1 ==&gt; 2 ==&gt; 3)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6217920" y="1241425"/>
            <a:ext cx="53778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/>
              <a:t>Step 1,  Click here more than 10 times in a row to enter</a:t>
            </a:r>
            <a:endParaRPr lang="en-US" altLang="zh-CN" sz="1800"/>
          </a:p>
          <a:p>
            <a:r>
              <a:rPr lang="en-US" altLang="zh-CN" sz="1800"/>
              <a:t>               the robot settings interface.</a:t>
            </a:r>
            <a:endParaRPr lang="en-US" altLang="zh-CN" sz="1800"/>
          </a:p>
          <a:p>
            <a:r>
              <a:rPr lang="en-US" altLang="zh-CN" sz="1200"/>
              <a:t>                      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当有多张地图时，请选择机器人需要使用的地图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8"/>
            </p:custDataLst>
          </p:nvPr>
        </p:nvSpPr>
        <p:spPr>
          <a:xfrm>
            <a:off x="703580" y="5501005"/>
            <a:ext cx="53778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/>
              <a:t>Step 3,  There will be a pop-up prompt after the map is </a:t>
            </a:r>
            <a:endParaRPr lang="en-US" altLang="zh-CN" sz="1800"/>
          </a:p>
          <a:p>
            <a:r>
              <a:rPr lang="en-US" altLang="zh-CN" sz="1800"/>
              <a:t>              successfully uploaded, please pay attention to</a:t>
            </a:r>
            <a:endParaRPr lang="en-US" altLang="zh-CN" sz="1800"/>
          </a:p>
          <a:p>
            <a:r>
              <a:rPr lang="en-US" altLang="zh-CN" sz="1800"/>
              <a:t>              view.</a:t>
            </a:r>
            <a:r>
              <a:rPr lang="en-US" altLang="zh-CN" sz="1200"/>
              <a:t> 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地图上传成功后会有弹窗提示，请注意查看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286385" y="452120"/>
            <a:ext cx="11658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Operation path, As shown in the picture: 1 ==&gt; </a:t>
            </a:r>
            <a:r>
              <a:rPr lang="en-US" altLang="zh-CN" b="1">
                <a:highlight>
                  <a:srgbClr val="FFFF00"/>
                </a:highlight>
              </a:rPr>
              <a:t>2</a:t>
            </a:r>
            <a:r>
              <a:rPr lang="en-US" altLang="zh-CN" b="1"/>
              <a:t> </a:t>
            </a:r>
            <a:r>
              <a:rPr lang="en-US" altLang="zh-CN"/>
              <a:t>==&gt; 3 ==&gt; </a:t>
            </a:r>
            <a:r>
              <a:rPr lang="en-US" altLang="zh-CN" b="1">
                <a:highlight>
                  <a:srgbClr val="FFFF00"/>
                </a:highlight>
              </a:rPr>
              <a:t>4</a:t>
            </a:r>
            <a:r>
              <a:rPr lang="en-US" altLang="zh-CN">
                <a:sym typeface="+mn-ea"/>
              </a:rPr>
              <a:t> ==&gt; </a:t>
            </a:r>
            <a:r>
              <a:rPr lang="en-US" altLang="zh-CN" b="1">
                <a:highlight>
                  <a:srgbClr val="FFFF00"/>
                </a:highlight>
                <a:sym typeface="+mn-ea"/>
              </a:rPr>
              <a:t>5</a:t>
            </a:r>
            <a:r>
              <a:rPr lang="en-US" altLang="zh-CN">
                <a:sym typeface="+mn-ea"/>
              </a:rPr>
              <a:t> ==&gt; 6</a:t>
            </a:r>
            <a:endParaRPr lang="en-US" altLang="zh-CN">
              <a:sym typeface="+mn-ea"/>
            </a:endParaRPr>
          </a:p>
          <a:p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(操作路径如图所示：1 ==&gt; </a:t>
            </a:r>
            <a:r>
              <a:rPr lang="en-US" altLang="zh-CN" sz="1200" b="1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==&gt; 3 ==&gt; </a:t>
            </a:r>
            <a:r>
              <a:rPr lang="en-US" altLang="zh-CN" sz="1200" b="1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==&gt; </a:t>
            </a:r>
            <a:r>
              <a:rPr lang="en-US" altLang="zh-CN" sz="1200" b="1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==&gt; 6 )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标题 1"/>
          <p:cNvSpPr txBox="1">
            <a:spLocks noGrp="1"/>
          </p:cNvSpPr>
          <p:nvPr>
            <p:custDataLst>
              <p:tags r:id="rId2"/>
            </p:custDataLst>
          </p:nvPr>
        </p:nvSpPr>
        <p:spPr>
          <a:xfrm>
            <a:off x="0" y="159"/>
            <a:ext cx="10515600" cy="4603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lang="en-US" altLang="zh-CN" sz="2400" b="1">
                <a:latin typeface="+mn-lt"/>
                <a:ea typeface="+mn-ea"/>
                <a:cs typeface="+mn-cs"/>
                <a:sym typeface="+mn-ea"/>
              </a:rPr>
              <a:t>5. Robot welcome message settings</a:t>
            </a: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(机器人欢迎语设置)</a:t>
            </a:r>
            <a:endParaRPr lang="en-US" altLang="zh-CN" sz="1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28015" y="1014095"/>
            <a:ext cx="108864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Step 2: Select the robot that needs to be set up according to the device number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步：根据设备号选择需要设置的机器人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/>
              <a:t>Step 4: Set up a welcome message on the robot's homepage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步：设置机器人首页的欢迎语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/>
              <a:t>Step 5: Set the background image for the robot's homepage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步：设置机器人首页的背景图片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837180" y="2178050"/>
            <a:ext cx="9355005" cy="468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1"/>
          <p:cNvSpPr txBox="1">
            <a:spLocks noGrp="1"/>
          </p:cNvSpPr>
          <p:nvPr>
            <p:custDataLst>
              <p:tags r:id="rId1"/>
            </p:custDataLst>
          </p:nvPr>
        </p:nvSpPr>
        <p:spPr>
          <a:xfrm>
            <a:off x="0" y="159"/>
            <a:ext cx="10515600" cy="4603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lang="en-US" altLang="zh-CN" sz="2400" b="1">
                <a:latin typeface="+mn-lt"/>
                <a:ea typeface="+mn-ea"/>
                <a:cs typeface="+mn-cs"/>
                <a:sym typeface="+mn-ea"/>
              </a:rPr>
              <a:t>6. GUIDED function setting</a:t>
            </a: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迎宾导览功能设置）</a:t>
            </a:r>
            <a:endParaRPr lang="en-US" altLang="zh-CN" sz="1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261620" y="485140"/>
            <a:ext cx="1153922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This feature is used to guide and explain to guests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(此功能用于引导客人参观并为客人讲解)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/>
              <a:t>Operation path,As shown in the picture: </a:t>
            </a:r>
            <a:r>
              <a:rPr lang="en-US" altLang="zh-CN" b="1">
                <a:highlight>
                  <a:srgbClr val="FFFF00"/>
                </a:highlight>
              </a:rPr>
              <a:t>1 ==&gt; 2 ==&gt; 3</a:t>
            </a:r>
            <a:r>
              <a:rPr lang="en-US" altLang="zh-CN" b="1"/>
              <a:t> </a:t>
            </a:r>
            <a:r>
              <a:rPr lang="en-US" altLang="zh-CN"/>
              <a:t>==&gt; 4</a:t>
            </a:r>
            <a:r>
              <a:rPr lang="en-US" altLang="zh-CN">
                <a:sym typeface="+mn-ea"/>
              </a:rPr>
              <a:t> ==&gt; 5 ==&gt; 6</a:t>
            </a:r>
            <a:endParaRPr lang="en-US" altLang="zh-CN">
              <a:sym typeface="+mn-ea"/>
            </a:endParaRPr>
          </a:p>
          <a:p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(操作路径如图所示：</a:t>
            </a:r>
            <a:r>
              <a:rPr lang="en-US" altLang="zh-CN" sz="1200" b="1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 ==&gt; 2 ==&gt; 3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==&gt; 4 ==&gt; 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 ==&gt; 6 )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b="1">
                <a:sym typeface="+mn-ea"/>
              </a:rPr>
              <a:t> </a:t>
            </a:r>
            <a:endParaRPr lang="en-US" altLang="zh-CN" b="1"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261620" y="1347470"/>
            <a:ext cx="117449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zh-CN"/>
              <a:t>Step 2, When there are more than one robot, select the target robot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步，</a:t>
            </a:r>
            <a:r>
              <a:rPr 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当有多台机器人时，请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选择目标机器人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>
                <a:sym typeface="+mn-ea"/>
              </a:rPr>
              <a:t>Step 3: Create a new guided route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第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步，</a:t>
            </a:r>
            <a:r>
              <a:rPr 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新建导览路线</a:t>
            </a:r>
            <a:r>
              <a:rPr 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837180" y="2178050"/>
            <a:ext cx="9355005" cy="468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247015" y="986155"/>
            <a:ext cx="1194498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en-US"/>
              <a:t>3.1 and 3.2: Route name and route similar name (used to trigger this guided route by voice)</a:t>
            </a:r>
            <a:endParaRPr lang="en-US"/>
          </a:p>
          <a:p>
            <a:pPr indent="0">
              <a:buFont typeface="Wingdings" panose="05000000000000000000" charset="0"/>
              <a:buNone/>
            </a:pPr>
            <a:r>
              <a:rPr 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路线名称和路线相似名称（用于语音触发该引导路线）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3.3: Route introduction, this content is displayed in the robot body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路线简介，此内容在机器人本体显示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3.4 and 3.5: Pictures and videos of the route will be displayed on the main body</a:t>
            </a:r>
            <a:r>
              <a:rPr 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路线的图片和视频，会在本体显示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标题 1"/>
          <p:cNvSpPr txBox="1">
            <a:spLocks noGrp="1"/>
          </p:cNvSpPr>
          <p:nvPr>
            <p:custDataLst>
              <p:tags r:id="rId2"/>
            </p:custDataLst>
          </p:nvPr>
        </p:nvSpPr>
        <p:spPr>
          <a:xfrm>
            <a:off x="0" y="159"/>
            <a:ext cx="10515600" cy="4603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lang="en-US" altLang="zh-CN" sz="2400" b="1">
                <a:latin typeface="+mn-lt"/>
                <a:ea typeface="+mn-ea"/>
                <a:cs typeface="+mn-cs"/>
                <a:sym typeface="+mn-ea"/>
              </a:rPr>
              <a:t>6. GUIDED function setting</a:t>
            </a: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迎宾导览功能设置）</a:t>
            </a:r>
            <a:endParaRPr lang="en-US" altLang="zh-CN" sz="1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261620" y="485140"/>
            <a:ext cx="115392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Operation path,As shown in the picture: 1 ==&gt; 2 ==&gt; </a:t>
            </a:r>
            <a:r>
              <a:rPr lang="en-US" altLang="zh-CN" b="1">
                <a:highlight>
                  <a:srgbClr val="FFFF00"/>
                </a:highlight>
              </a:rPr>
              <a:t>3</a:t>
            </a:r>
            <a:r>
              <a:rPr lang="en-US" altLang="zh-CN" b="1">
                <a:highlight>
                  <a:srgbClr val="FFFF00"/>
                </a:highlight>
              </a:rPr>
              <a:t> ==&gt; 4</a:t>
            </a:r>
            <a:r>
              <a:rPr lang="en-US" altLang="zh-CN" b="1">
                <a:highlight>
                  <a:srgbClr val="FFFF00"/>
                </a:highlight>
                <a:sym typeface="+mn-ea"/>
              </a:rPr>
              <a:t> </a:t>
            </a:r>
            <a:r>
              <a:rPr lang="en-US" altLang="zh-CN">
                <a:sym typeface="+mn-ea"/>
              </a:rPr>
              <a:t>==&gt; 5 ==&gt; 6</a:t>
            </a:r>
            <a:endParaRPr lang="en-US" altLang="zh-CN">
              <a:sym typeface="+mn-ea"/>
            </a:endParaRPr>
          </a:p>
          <a:p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(操作路径如图所示：1 ==&gt; 2 ==&gt; </a:t>
            </a:r>
            <a:r>
              <a:rPr lang="en-US" altLang="zh-CN" sz="1200" b="1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 ==&gt; 4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==&gt; 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 ==&gt; 6 )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b="1">
                <a:sym typeface="+mn-ea"/>
              </a:rPr>
              <a:t> </a:t>
            </a:r>
            <a:endParaRPr lang="en-US" altLang="zh-CN" b="1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837180" y="2178050"/>
            <a:ext cx="9355005" cy="468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247015" y="828040"/>
            <a:ext cx="11944985" cy="13449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/>
              <a:t>4.1  All navigation points created when creating a new map (you can click here to select the route points of the route).</a:t>
            </a:r>
            <a:endParaRPr lang="en-US"/>
          </a:p>
          <a:p>
            <a:pPr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</a:pP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</a:rPr>
              <a:t>              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新建地图时创建的所有导航点位（可以点选此处选择线路的途径点位）</a:t>
            </a:r>
            <a:endParaRPr sz="120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/>
              <a:t>4.2  The starting point of the route, which cannot be modified</a:t>
            </a:r>
            <a:r>
              <a:rPr 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路线的起点，不可修改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zh-CN"/>
              <a:t>4.3  The route point of the route can be modified by clicking on it</a:t>
            </a:r>
            <a:r>
              <a:rPr 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路线的途径点，可以点击修改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t>4.4</a:t>
            </a:r>
            <a:r>
              <a:rPr lang="en-US"/>
              <a:t>  </a:t>
            </a:r>
            <a:r>
              <a:t>The end of the route</a:t>
            </a:r>
            <a:r>
              <a:rPr 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路线的终点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zh-CN"/>
              <a:t>4.5  Set the starting point for the robot to start the explanation</a:t>
            </a:r>
            <a:r>
              <a:rPr 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设置机器人开始讲解的起始点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标题 1"/>
          <p:cNvSpPr txBox="1">
            <a:spLocks noGrp="1"/>
          </p:cNvSpPr>
          <p:nvPr>
            <p:custDataLst>
              <p:tags r:id="rId2"/>
            </p:custDataLst>
          </p:nvPr>
        </p:nvSpPr>
        <p:spPr>
          <a:xfrm>
            <a:off x="0" y="159"/>
            <a:ext cx="10515600" cy="4603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lang="en-US" altLang="zh-CN" sz="2400" b="1">
                <a:latin typeface="+mn-lt"/>
                <a:ea typeface="+mn-ea"/>
                <a:cs typeface="+mn-cs"/>
                <a:sym typeface="+mn-ea"/>
              </a:rPr>
              <a:t>6. GUIDED function setting</a:t>
            </a: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迎宾导览功能设置）</a:t>
            </a:r>
            <a:endParaRPr lang="en-US" altLang="zh-CN" sz="1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261620" y="303530"/>
            <a:ext cx="115392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Operation path,As shown in the picture: 1 ==&gt; 2 ==&gt; 3 ==&gt;</a:t>
            </a:r>
            <a:r>
              <a:rPr lang="en-US" altLang="zh-CN" b="1">
                <a:highlight>
                  <a:srgbClr val="FFFF00"/>
                </a:highlight>
              </a:rPr>
              <a:t> 4</a:t>
            </a:r>
            <a:r>
              <a:rPr lang="en-US" altLang="zh-CN" b="1">
                <a:highlight>
                  <a:srgbClr val="FFFF00"/>
                </a:highlight>
                <a:sym typeface="+mn-ea"/>
              </a:rPr>
              <a:t> ==&gt; 5</a:t>
            </a:r>
            <a:r>
              <a:rPr lang="en-US" altLang="zh-CN">
                <a:sym typeface="+mn-ea"/>
              </a:rPr>
              <a:t> ==&gt; 6</a:t>
            </a:r>
            <a:endParaRPr lang="en-US" altLang="zh-CN">
              <a:sym typeface="+mn-ea"/>
            </a:endParaRPr>
          </a:p>
          <a:p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(操作路径如图所示：1 ==&gt; 2 ==&gt; 3 ==&gt; </a:t>
            </a:r>
            <a:r>
              <a:rPr lang="en-US" altLang="zh-CN" sz="1200" b="1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 ==&gt; 5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==&gt; 6 )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b="1">
                <a:sym typeface="+mn-ea"/>
              </a:rPr>
              <a:t> </a:t>
            </a:r>
            <a:endParaRPr lang="en-US" altLang="zh-CN" b="1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837180" y="2178050"/>
            <a:ext cx="9355005" cy="468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247015" y="804545"/>
            <a:ext cx="1129919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en-US"/>
              <a:t>5.1</a:t>
            </a:r>
            <a:r>
              <a:rPr lang="en-US" altLang="zh-CN"/>
              <a:t>  Set the content of the voice broadcast before departure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设置准备出发时的语音播报内容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/>
              <a:t>5.2</a:t>
            </a:r>
            <a:r>
              <a:rPr lang="en-US" altLang="zh-CN"/>
              <a:t>  Set the voice broadcast content during the journey</a:t>
            </a:r>
            <a:r>
              <a:rPr lang="en-US" altLang="zh-CN" sz="1200"/>
              <a:t>(</a:t>
            </a:r>
            <a:r>
              <a:rPr lang="zh-CN" altLang="en-US" sz="1200"/>
              <a:t>设置行驶途中的语音播报内容</a:t>
            </a:r>
            <a:r>
              <a:rPr lang="en-US" altLang="zh-CN" sz="1200"/>
              <a:t>)</a:t>
            </a:r>
            <a:endParaRPr lang="zh-CN" altLang="en-US" sz="1200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5.3  Set the content of the voice broadcast at the arrival point and the setting of the waiting time</a:t>
            </a:r>
            <a:endParaRPr lang="en-US" altLang="zh-CN"/>
          </a:p>
          <a:p>
            <a:pPr indent="0">
              <a:buFont typeface="Wingdings" panose="05000000000000000000" charset="0"/>
              <a:buNone/>
            </a:pP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(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设置到达途径点的语音播报内容，以及等待时间和语音控制指令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Note: The above can be set separately for each route point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每个途径点位都可以单独设置以上内容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标题 1"/>
          <p:cNvSpPr txBox="1">
            <a:spLocks noGrp="1"/>
          </p:cNvSpPr>
          <p:nvPr>
            <p:custDataLst>
              <p:tags r:id="rId2"/>
            </p:custDataLst>
          </p:nvPr>
        </p:nvSpPr>
        <p:spPr>
          <a:xfrm>
            <a:off x="0" y="159"/>
            <a:ext cx="10515600" cy="4603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lang="en-US" altLang="zh-CN" sz="2400" b="1">
                <a:latin typeface="+mn-lt"/>
                <a:ea typeface="+mn-ea"/>
                <a:cs typeface="+mn-cs"/>
                <a:sym typeface="+mn-ea"/>
              </a:rPr>
              <a:t>6. GUIDED function setting</a:t>
            </a: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迎宾导览功能设置）</a:t>
            </a:r>
            <a:endParaRPr lang="en-US" altLang="zh-CN" sz="1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261620" y="303530"/>
            <a:ext cx="115392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Operation path,As shown in the picture: 1 ==&gt; 2 ==&gt; 3 ==&gt; 4</a:t>
            </a:r>
            <a:r>
              <a:rPr lang="en-US" altLang="zh-CN">
                <a:sym typeface="+mn-ea"/>
              </a:rPr>
              <a:t> ==&gt; </a:t>
            </a:r>
            <a:r>
              <a:rPr lang="en-US" altLang="zh-CN" b="1">
                <a:highlight>
                  <a:srgbClr val="FFFF00"/>
                </a:highlight>
                <a:sym typeface="+mn-ea"/>
              </a:rPr>
              <a:t>5 ==&gt; 6</a:t>
            </a:r>
            <a:endParaRPr lang="en-US" altLang="zh-CN">
              <a:sym typeface="+mn-ea"/>
            </a:endParaRPr>
          </a:p>
          <a:p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(操作路径如图所示：1 ==&gt; 2 ==&gt; 3 ==&gt; 4 ==&gt;</a:t>
            </a:r>
            <a:r>
              <a:rPr lang="en-US" altLang="zh-CN" sz="1200" b="1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5 ==&gt; 6 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b="1">
                <a:sym typeface="+mn-ea"/>
              </a:rPr>
              <a:t> </a:t>
            </a:r>
            <a:endParaRPr lang="en-US" altLang="zh-CN" b="1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837180" y="2178050"/>
            <a:ext cx="9355005" cy="468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标题 1"/>
          <p:cNvSpPr txBox="1">
            <a:spLocks noGrp="1"/>
          </p:cNvSpPr>
          <p:nvPr>
            <p:custDataLst>
              <p:tags r:id="rId1"/>
            </p:custDataLst>
          </p:nvPr>
        </p:nvSpPr>
        <p:spPr>
          <a:xfrm>
            <a:off x="0" y="159"/>
            <a:ext cx="10515600" cy="4603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lang="en-US" altLang="zh-CN" sz="2400" b="1">
                <a:latin typeface="+mn-lt"/>
                <a:ea typeface="+mn-ea"/>
                <a:cs typeface="+mn-cs"/>
                <a:sym typeface="+mn-ea"/>
              </a:rPr>
              <a:t>7.  ENQUIRY Q&amp;A settings</a:t>
            </a: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咨询服务问答设置</a:t>
            </a: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en-US" altLang="zh-CN" sz="1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82880" y="469900"/>
            <a:ext cx="1157414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charset="0"/>
              <a:buNone/>
            </a:pPr>
            <a:r>
              <a:rPr>
                <a:sym typeface="+mn-ea"/>
              </a:rPr>
              <a:t>For voice conversations between robots and guests</a:t>
            </a:r>
            <a:r>
              <a:rPr 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用于机器人和客人之间的语音对话</a:t>
            </a:r>
            <a:r>
              <a:rPr 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/>
              <a:t>Operation path: As shown in the picture: 1 ==&gt; 2 ==&gt; 3 </a:t>
            </a:r>
            <a:r>
              <a:rPr lang="en-US" altLang="zh-CN" sz="1200"/>
              <a:t>(操作路径,如图：1 ==&gt; 2 ==&gt; 3)</a:t>
            </a:r>
            <a:endParaRPr lang="en-US" altLang="zh-CN" sz="1200">
              <a:sym typeface="+mn-ea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>
                <a:sym typeface="+mn-ea"/>
              </a:rPr>
              <a:t>To improve the success rate of Q&amp;A, you can set up multiple similar questions to point to the same answer.</a:t>
            </a:r>
            <a:endParaRPr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(</a:t>
            </a:r>
            <a:r>
              <a: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为了提高问答的成功率，您可以设置多个相似的问题来指向相同的答案</a:t>
            </a:r>
            <a:r>
              <a:rPr 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82880" y="1687195"/>
            <a:ext cx="110051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Q&amp;A content are divided into three categories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(问答内容分为三类)</a:t>
            </a:r>
            <a:r>
              <a:rPr lang="en-US" altLang="zh-CN"/>
              <a:t>:</a:t>
            </a:r>
            <a:endParaRPr lang="en-US" altLang="zh-CN"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sz="1400"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200660" y="2031365"/>
            <a:ext cx="2667635" cy="23685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+mj-lt"/>
              <a:buNone/>
            </a:pPr>
            <a:r>
              <a:rPr lang="en-US" sz="1400" b="1">
                <a:sym typeface="+mn-ea"/>
              </a:rPr>
              <a:t>a) </a:t>
            </a:r>
            <a:r>
              <a:rPr sz="1400" b="1">
                <a:sym typeface="+mn-ea"/>
              </a:rPr>
              <a:t>Basic Q&amp;A</a:t>
            </a:r>
            <a:r>
              <a:rPr 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(基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础</a:t>
            </a:r>
            <a:r>
              <a:rPr 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问答)</a:t>
            </a:r>
            <a:r>
              <a:rPr sz="1400" b="1">
                <a:sym typeface="+mn-ea"/>
              </a:rPr>
              <a:t>:</a:t>
            </a:r>
            <a:r>
              <a:rPr lang="en-US" sz="1400" b="1">
                <a:sym typeface="+mn-ea"/>
              </a:rPr>
              <a:t> </a:t>
            </a:r>
            <a:endParaRPr lang="en-US" sz="1400" b="1">
              <a:sym typeface="+mn-ea"/>
            </a:endParaRPr>
          </a:p>
          <a:p>
            <a:pPr indent="0">
              <a:buFont typeface="+mj-lt"/>
              <a:buNone/>
            </a:pPr>
            <a:r>
              <a:rPr lang="en-US" sz="1400" b="1">
                <a:sym typeface="+mn-ea"/>
              </a:rPr>
              <a:t>    </a:t>
            </a:r>
            <a:r>
              <a:rPr sz="1400">
                <a:sym typeface="+mn-ea"/>
              </a:rPr>
              <a:t>For all robots.</a:t>
            </a:r>
            <a:endParaRPr sz="1400">
              <a:sym typeface="+mn-ea"/>
            </a:endParaRPr>
          </a:p>
          <a:p>
            <a:pPr indent="0">
              <a:buFont typeface="+mj-lt"/>
              <a:buNone/>
            </a:pPr>
            <a:r>
              <a:rPr sz="1200">
                <a:sym typeface="+mn-ea"/>
              </a:rPr>
              <a:t> </a:t>
            </a:r>
            <a:r>
              <a:rPr lang="en-US" sz="1200">
                <a:sym typeface="+mn-ea"/>
              </a:rPr>
              <a:t>    (适用于所有机器人)</a:t>
            </a:r>
            <a:endParaRPr lang="en-US" sz="1200">
              <a:sym typeface="+mn-ea"/>
            </a:endParaRPr>
          </a:p>
          <a:p>
            <a:pPr indent="0">
              <a:buFont typeface="+mj-lt"/>
              <a:buNone/>
            </a:pPr>
            <a:endParaRPr lang="en-US" sz="1400" b="1">
              <a:sym typeface="+mn-ea"/>
            </a:endParaRPr>
          </a:p>
          <a:p>
            <a:pPr indent="0">
              <a:buFont typeface="+mj-lt"/>
              <a:buNone/>
            </a:pPr>
            <a:r>
              <a:rPr lang="en-US" sz="1400" b="1">
                <a:sym typeface="+mn-ea"/>
              </a:rPr>
              <a:t>b) </a:t>
            </a:r>
            <a:r>
              <a:rPr sz="1400" b="1">
                <a:sym typeface="+mn-ea"/>
              </a:rPr>
              <a:t>Regional Q&amp;A</a:t>
            </a:r>
            <a:r>
              <a:rPr 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(区域问答)</a:t>
            </a:r>
            <a:r>
              <a:rPr sz="1400" b="1">
                <a:sym typeface="+mn-ea"/>
              </a:rPr>
              <a:t>:</a:t>
            </a:r>
            <a:endParaRPr sz="1400" b="1">
              <a:sym typeface="+mn-ea"/>
            </a:endParaRPr>
          </a:p>
          <a:p>
            <a:pPr indent="0">
              <a:buFont typeface="+mj-lt"/>
              <a:buNone/>
            </a:pPr>
            <a:r>
              <a:rPr lang="en-US" sz="1400">
                <a:sym typeface="+mn-ea"/>
              </a:rPr>
              <a:t>    </a:t>
            </a:r>
            <a:r>
              <a:rPr sz="1400">
                <a:sym typeface="+mn-ea"/>
              </a:rPr>
              <a:t>Robots for the same workplace.</a:t>
            </a:r>
            <a:endParaRPr sz="1400">
              <a:sym typeface="+mn-ea"/>
            </a:endParaRPr>
          </a:p>
          <a:p>
            <a:pPr indent="0">
              <a:buFont typeface="+mj-lt"/>
              <a:buNone/>
            </a:pPr>
            <a:r>
              <a:rPr lang="en-US" sz="1200">
                <a:sym typeface="+mn-ea"/>
              </a:rPr>
              <a:t>     (同一工作场所的机器人)</a:t>
            </a:r>
            <a:endParaRPr sz="1200">
              <a:sym typeface="+mn-ea"/>
            </a:endParaRPr>
          </a:p>
          <a:p>
            <a:pPr indent="0">
              <a:buFont typeface="+mj-lt"/>
              <a:buNone/>
            </a:pPr>
            <a:r>
              <a:rPr lang="en-US" sz="1400" b="1">
                <a:sym typeface="+mn-ea"/>
              </a:rPr>
              <a:t> </a:t>
            </a:r>
            <a:r>
              <a:rPr sz="1400" b="1">
                <a:sym typeface="+mn-ea"/>
              </a:rPr>
              <a:t> </a:t>
            </a:r>
            <a:endParaRPr sz="1400" b="1">
              <a:sym typeface="+mn-ea"/>
            </a:endParaRPr>
          </a:p>
          <a:p>
            <a:pPr indent="0">
              <a:buFont typeface="+mj-lt"/>
              <a:buNone/>
            </a:pPr>
            <a:r>
              <a:rPr lang="en-US" sz="1400" b="1">
                <a:sym typeface="+mn-ea"/>
              </a:rPr>
              <a:t>c) </a:t>
            </a:r>
            <a:r>
              <a:rPr sz="1400" b="1">
                <a:sym typeface="+mn-ea"/>
              </a:rPr>
              <a:t>Robot Q&amp;A</a:t>
            </a:r>
            <a:r>
              <a:rPr lang="en-US" sz="1200">
                <a:sym typeface="+mn-ea"/>
              </a:rPr>
              <a:t>(机器人问答)</a:t>
            </a:r>
            <a:r>
              <a:rPr sz="1400" b="1">
                <a:sym typeface="+mn-ea"/>
              </a:rPr>
              <a:t>: </a:t>
            </a:r>
            <a:endParaRPr lang="en-US" sz="1400" b="1"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sz="1400">
                <a:sym typeface="+mn-ea"/>
              </a:rPr>
              <a:t>    </a:t>
            </a:r>
            <a:r>
              <a:rPr sz="1400">
                <a:sym typeface="+mn-ea"/>
              </a:rPr>
              <a:t>Specify </a:t>
            </a:r>
            <a:r>
              <a:rPr lang="en-US" sz="1400">
                <a:sym typeface="+mn-ea"/>
              </a:rPr>
              <a:t>a single</a:t>
            </a:r>
            <a:r>
              <a:rPr sz="1400">
                <a:sym typeface="+mn-ea"/>
              </a:rPr>
              <a:t> robot.</a:t>
            </a:r>
            <a:endParaRPr sz="1400"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(指定单台机器人)</a:t>
            </a:r>
            <a:endParaRPr 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837180" y="2178050"/>
            <a:ext cx="9355005" cy="468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标题 1"/>
          <p:cNvSpPr txBox="1">
            <a:spLocks noGrp="1"/>
          </p:cNvSpPr>
          <p:nvPr>
            <p:custDataLst>
              <p:tags r:id="rId1"/>
            </p:custDataLst>
          </p:nvPr>
        </p:nvSpPr>
        <p:spPr>
          <a:xfrm>
            <a:off x="0" y="159"/>
            <a:ext cx="10515600" cy="4603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lang="en-US" altLang="zh-CN" sz="2400" b="1">
                <a:latin typeface="+mn-lt"/>
                <a:ea typeface="+mn-ea"/>
                <a:cs typeface="+mn-cs"/>
                <a:sym typeface="+mn-ea"/>
              </a:rPr>
              <a:t>8.  FACILITIES function settings</a:t>
            </a: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基础设施功能设置</a:t>
            </a: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en-US" altLang="zh-CN" sz="1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261620" y="485140"/>
            <a:ext cx="1153922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This feature is used to take guests to their destinations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(此功能用于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带客人去目的地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/>
              <a:t>Operation path,As shown in the picture: </a:t>
            </a:r>
            <a:r>
              <a:rPr lang="en-US" altLang="zh-CN" b="1">
                <a:highlight>
                  <a:srgbClr val="FFFF00"/>
                </a:highlight>
              </a:rPr>
              <a:t>1 ==&gt; 2 </a:t>
            </a:r>
            <a:r>
              <a:rPr lang="en-US" altLang="zh-CN"/>
              <a:t>==&gt; 3 ==&gt; 4</a:t>
            </a:r>
            <a:r>
              <a:rPr lang="en-US" altLang="zh-CN">
                <a:sym typeface="+mn-ea"/>
              </a:rPr>
              <a:t> ==&gt; 5 ==&gt; 6</a:t>
            </a:r>
            <a:endParaRPr lang="en-US" altLang="zh-CN">
              <a:sym typeface="+mn-ea"/>
            </a:endParaRPr>
          </a:p>
          <a:p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(操作路径如图所示：</a:t>
            </a:r>
            <a:r>
              <a:rPr lang="en-US" altLang="zh-CN" sz="1200" b="1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 ==&gt; 2 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==&gt; 3 ==&gt; 4 ==&gt; 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 ==&gt; 6 )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b="1">
                <a:sym typeface="+mn-ea"/>
              </a:rPr>
              <a:t> </a:t>
            </a:r>
            <a:endParaRPr lang="en-US" altLang="zh-CN" b="1"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245745" y="1289050"/>
            <a:ext cx="115741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charset="0"/>
              <a:buNone/>
            </a:pPr>
            <a:r>
              <a:rPr>
                <a:sym typeface="+mn-ea"/>
              </a:rPr>
              <a:t>Step 2</a:t>
            </a:r>
            <a:r>
              <a:rPr lang="zh-CN">
                <a:sym typeface="+mn-ea"/>
              </a:rPr>
              <a:t>，</a:t>
            </a:r>
            <a:r>
              <a:rPr>
                <a:sym typeface="+mn-ea"/>
              </a:rPr>
              <a:t>You can create and modify workspaces here. When modifying a region, we recommend that you upload a region</a:t>
            </a:r>
            <a:endParaRPr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>
                <a:sym typeface="+mn-ea"/>
              </a:rPr>
              <a:t> </a:t>
            </a:r>
            <a:r>
              <a:rPr lang="en-US">
                <a:sym typeface="+mn-ea"/>
              </a:rPr>
              <a:t>             </a:t>
            </a:r>
            <a:r>
              <a:rPr>
                <a:sym typeface="+mn-ea"/>
              </a:rPr>
              <a:t> plan that is less than 500 KB (optional)</a:t>
            </a:r>
            <a:endParaRPr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</a:t>
            </a:r>
            <a:r>
              <a: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可以在此新增和修改工作区域。修改区域时建议上传一张小于500KB的区域平面图(非必需)</a:t>
            </a:r>
            <a:endParaRPr 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837180" y="2178050"/>
            <a:ext cx="9355005" cy="468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837180" y="2178050"/>
            <a:ext cx="9355005" cy="4680000"/>
          </a:xfrm>
          <a:prstGeom prst="rect">
            <a:avLst/>
          </a:prstGeom>
        </p:spPr>
      </p:pic>
      <p:sp>
        <p:nvSpPr>
          <p:cNvPr id="9" name="标题 1"/>
          <p:cNvSpPr txBox="1">
            <a:spLocks noGrp="1"/>
          </p:cNvSpPr>
          <p:nvPr>
            <p:custDataLst>
              <p:tags r:id="rId3"/>
            </p:custDataLst>
          </p:nvPr>
        </p:nvSpPr>
        <p:spPr>
          <a:xfrm>
            <a:off x="0" y="159"/>
            <a:ext cx="10515600" cy="4603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lang="en-US" altLang="zh-CN" sz="2400" b="1">
                <a:latin typeface="+mn-lt"/>
                <a:ea typeface="+mn-ea"/>
                <a:cs typeface="+mn-cs"/>
                <a:sym typeface="+mn-ea"/>
              </a:rPr>
              <a:t>8.  FACILITIES function settings</a:t>
            </a: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基础设施功能设置</a:t>
            </a: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en-US" altLang="zh-CN" sz="1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228600" y="369570"/>
            <a:ext cx="115392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Operation path,As shown in the picture: 1 ==&gt; 2 </a:t>
            </a:r>
            <a:r>
              <a:rPr lang="en-US" altLang="zh-CN" b="1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==&gt; 3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==&gt; 4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 ==&gt; 5 ==&gt; 6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(操作路径如图所示：1 ==&gt; 2 </a:t>
            </a:r>
            <a:r>
              <a:rPr lang="en-US" altLang="zh-CN" sz="1200" b="1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==&gt; 3 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==&gt; 4 ==&gt; 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 ==&gt; 6 )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b="1">
                <a:sym typeface="+mn-ea"/>
              </a:rPr>
              <a:t> </a:t>
            </a:r>
            <a:endParaRPr lang="en-US" altLang="zh-CN" b="1">
              <a:sym typeface="+mn-ea"/>
            </a:endParaRPr>
          </a:p>
        </p:txBody>
      </p:sp>
      <p:cxnSp>
        <p:nvCxnSpPr>
          <p:cNvPr id="7" name="肘形连接符 6"/>
          <p:cNvCxnSpPr>
            <a:endCxn id="6" idx="3"/>
          </p:cNvCxnSpPr>
          <p:nvPr/>
        </p:nvCxnSpPr>
        <p:spPr>
          <a:xfrm rot="10800000" flipV="1">
            <a:off x="2356485" y="4664075"/>
            <a:ext cx="5935980" cy="621030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>
            <p:custDataLst>
              <p:tags r:id="rId5"/>
            </p:custDataLst>
          </p:nvPr>
        </p:nvSpPr>
        <p:spPr>
          <a:xfrm>
            <a:off x="226695" y="897255"/>
            <a:ext cx="11574145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charset="0"/>
              <a:buNone/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+mn-lt"/>
                <a:sym typeface="+mn-ea"/>
              </a:rPr>
              <a:t>Drag the icon from the pop-up bar (3.1) on the right to any position on the image (for example, 3.2)</a:t>
            </a:r>
            <a:r>
              <a:rPr lang="en-US">
                <a:latin typeface="微软雅黑" panose="020B0503020204020204" charset="-122"/>
                <a:ea typeface="微软雅黑" panose="020B0503020204020204" charset="-122"/>
                <a:cs typeface="+mn-lt"/>
                <a:sym typeface="+mn-ea"/>
              </a:rPr>
              <a:t> </a:t>
            </a:r>
            <a:endParaRPr lang="en-US">
              <a:latin typeface="微软雅黑" panose="020B0503020204020204" charset="-122"/>
              <a:ea typeface="微软雅黑" panose="020B0503020204020204" charset="-122"/>
              <a:cs typeface="+mn-lt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从右侧弹窗栏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(3.1)</a:t>
            </a:r>
            <a:r>
              <a:rPr 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中用鼠标拖动图标到图片上任意位置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例如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3.2)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>
              <a:buFont typeface="Wingdings" panose="05000000000000000000" charset="0"/>
              <a:buChar char="l"/>
            </a:pPr>
            <a:r>
              <a:rPr sz="1600">
                <a:sym typeface="+mn-ea"/>
              </a:rPr>
              <a:t>3.2  Click on the icon (e.g. 3.2) to edit the point</a:t>
            </a:r>
            <a:r>
              <a: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（点击图标（如3.2）进行点位编辑）</a:t>
            </a:r>
            <a:endParaRPr sz="1600">
              <a:sym typeface="+mn-ea"/>
            </a:endParaRPr>
          </a:p>
          <a:p>
            <a:pPr marL="171450" indent="-171450">
              <a:buFont typeface="Wingdings" panose="05000000000000000000" charset="0"/>
              <a:buChar char="l"/>
            </a:pPr>
            <a:r>
              <a:rPr sz="1600">
                <a:sym typeface="+mn-ea"/>
              </a:rPr>
              <a:t>3.3  Give the point a name. Be careful to keep the name short and precise, as this name will be used as a voice keyword to trigger the</a:t>
            </a:r>
            <a:endParaRPr sz="1600"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sz="1600">
                <a:sym typeface="+mn-ea"/>
              </a:rPr>
              <a:t>           </a:t>
            </a:r>
            <a:r>
              <a:rPr sz="1600">
                <a:sym typeface="+mn-ea"/>
              </a:rPr>
              <a:t> lead function.</a:t>
            </a:r>
            <a:r>
              <a:rPr 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(给点位命名。注意名字要简短且精准，因为此名字将做为触发引导功能的语音关键词)</a:t>
            </a:r>
            <a:endParaRPr 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228600" y="2048510"/>
            <a:ext cx="29819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indent="-171450">
              <a:buFont typeface="Wingdings" panose="05000000000000000000" charset="0"/>
              <a:buChar char="l"/>
            </a:pPr>
            <a:r>
              <a:rPr sz="1600">
                <a:ea typeface="微软雅黑" panose="020B0503020204020204" charset="-122"/>
                <a:cs typeface="+mn-lt"/>
                <a:sym typeface="+mn-ea"/>
              </a:rPr>
              <a:t>3.</a:t>
            </a:r>
            <a:r>
              <a:rPr lang="en-US" sz="1600">
                <a:ea typeface="微软雅黑" panose="020B0503020204020204" charset="-122"/>
                <a:cs typeface="+mn-lt"/>
                <a:sym typeface="+mn-ea"/>
              </a:rPr>
              <a:t>4</a:t>
            </a:r>
            <a:r>
              <a:rPr sz="1600">
                <a:latin typeface="微软雅黑" panose="020B0503020204020204" charset="-122"/>
                <a:ea typeface="微软雅黑" panose="020B0503020204020204" charset="-122"/>
                <a:cs typeface="+mn-lt"/>
                <a:sym typeface="+mn-ea"/>
              </a:rPr>
              <a:t> </a:t>
            </a:r>
            <a:r>
              <a:rPr sz="1600">
                <a:ea typeface="微软雅黑" panose="020B0503020204020204" charset="-122"/>
                <a:cs typeface="+mn-lt"/>
                <a:sym typeface="+mn-ea"/>
              </a:rPr>
              <a:t> </a:t>
            </a:r>
            <a:r>
              <a:rPr sz="1600">
                <a:ea typeface="微软雅黑" panose="020B0503020204020204" charset="-122"/>
                <a:cs typeface="+mn-lt"/>
                <a:sym typeface="+mn-ea"/>
              </a:rPr>
              <a:t>Associating a </a:t>
            </a:r>
            <a:r>
              <a:rPr lang="en-US" sz="1600">
                <a:ea typeface="微软雅黑" panose="020B0503020204020204" charset="-122"/>
                <a:cs typeface="+mn-lt"/>
                <a:sym typeface="+mn-ea"/>
              </a:rPr>
              <a:t>robot </a:t>
            </a:r>
            <a:endParaRPr lang="en-US" sz="1600">
              <a:ea typeface="微软雅黑" panose="020B0503020204020204" charset="-122"/>
              <a:cs typeface="+mn-lt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sz="1600">
                <a:ea typeface="微软雅黑" panose="020B0503020204020204" charset="-122"/>
                <a:cs typeface="+mn-lt"/>
                <a:sym typeface="+mn-ea"/>
              </a:rPr>
              <a:t>            navigation point with</a:t>
            </a:r>
            <a:endParaRPr lang="en-US" sz="1600">
              <a:ea typeface="微软雅黑" panose="020B0503020204020204" charset="-122"/>
              <a:cs typeface="+mn-lt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sz="1600">
                <a:ea typeface="微软雅黑" panose="020B0503020204020204" charset="-122"/>
                <a:cs typeface="+mn-lt"/>
                <a:sym typeface="+mn-ea"/>
              </a:rPr>
              <a:t>            a point.</a:t>
            </a:r>
            <a:r>
              <a:rPr 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(为点位关联机器</a:t>
            </a:r>
            <a:endParaRPr 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人导航点)</a:t>
            </a:r>
            <a:endParaRPr 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>
              <a:buFont typeface="Wingdings" panose="05000000000000000000" charset="0"/>
              <a:buChar char="l"/>
            </a:pPr>
            <a:endParaRPr 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17475" y="4023360"/>
            <a:ext cx="2239010" cy="25222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标题 1"/>
          <p:cNvSpPr txBox="1">
            <a:spLocks noGrp="1"/>
          </p:cNvSpPr>
          <p:nvPr>
            <p:custDataLst>
              <p:tags r:id="rId1"/>
            </p:custDataLst>
          </p:nvPr>
        </p:nvSpPr>
        <p:spPr>
          <a:xfrm>
            <a:off x="0" y="159"/>
            <a:ext cx="10515600" cy="4603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lang="en-US" altLang="zh-CN" sz="2400" b="1">
                <a:latin typeface="+mn-lt"/>
                <a:ea typeface="+mn-ea"/>
                <a:cs typeface="+mn-cs"/>
                <a:sym typeface="+mn-ea"/>
              </a:rPr>
              <a:t>8.  FACILITIES function settings</a:t>
            </a: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基础设施功能设置</a:t>
            </a: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en-US" altLang="zh-CN" sz="1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228600" y="369570"/>
            <a:ext cx="115392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Operation path,As shown in the picture: 1 ==&gt; 2 ==&gt; 3 ==&gt; </a:t>
            </a:r>
            <a:r>
              <a:rPr lang="en-US" altLang="zh-CN" b="1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en-US" altLang="zh-CN" b="1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sym typeface="+mn-ea"/>
              </a:rPr>
              <a:t> ==&gt; 5 </a:t>
            </a:r>
            <a:r>
              <a:rPr lang="en-US" altLang="zh-CN" b="1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sym typeface="+mn-ea"/>
              </a:rPr>
              <a:t>==&gt; 6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(操作路径如图所示：1 ==&gt; 2 ==&gt; 3 ==&gt;</a:t>
            </a:r>
            <a:r>
              <a:rPr lang="en-US" altLang="zh-CN" sz="1200" b="1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4 ==&gt; 5 </a:t>
            </a:r>
            <a:r>
              <a:rPr lang="en-US" altLang="zh-CN" sz="1200" b="1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==&gt; 6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)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b="1">
                <a:sym typeface="+mn-ea"/>
              </a:rPr>
              <a:t> </a:t>
            </a:r>
            <a:endParaRPr lang="en-US" altLang="zh-CN" b="1">
              <a:sym typeface="+mn-ea"/>
            </a:endParaRPr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226695" y="913765"/>
            <a:ext cx="115741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charset="0"/>
              <a:buNone/>
            </a:pPr>
            <a:r>
              <a:rPr>
                <a:ea typeface="微软雅黑" panose="020B0503020204020204" charset="-122"/>
                <a:cs typeface="+mn-lt"/>
                <a:sym typeface="+mn-ea"/>
              </a:rPr>
              <a:t>Step</a:t>
            </a:r>
            <a:r>
              <a:rPr lang="en-US">
                <a:ea typeface="微软雅黑" panose="020B0503020204020204" charset="-122"/>
                <a:cs typeface="+mn-lt"/>
                <a:sym typeface="+mn-ea"/>
              </a:rPr>
              <a:t> 5</a:t>
            </a:r>
            <a:r>
              <a:rPr lang="zh-CN">
                <a:ea typeface="微软雅黑" panose="020B0503020204020204" charset="-122"/>
                <a:cs typeface="+mn-lt"/>
                <a:sym typeface="+mn-ea"/>
              </a:rPr>
              <a:t>，</a:t>
            </a:r>
            <a:r>
              <a:rPr>
                <a:ea typeface="微软雅黑" panose="020B0503020204020204" charset="-122"/>
                <a:cs typeface="+mn-lt"/>
                <a:sym typeface="+mn-ea"/>
              </a:rPr>
              <a:t>Select the points as needed</a:t>
            </a:r>
            <a:r>
              <a: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(根据需要勾选点位)</a:t>
            </a:r>
            <a:endParaRPr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>
                <a:ea typeface="微软雅黑" panose="020B0503020204020204" charset="-122"/>
                <a:cs typeface="+mn-lt"/>
                <a:sym typeface="+mn-ea"/>
              </a:rPr>
              <a:t>Step 6</a:t>
            </a:r>
            <a:r>
              <a:rPr lang="zh-CN" altLang="en-US">
                <a:ea typeface="微软雅黑" panose="020B0503020204020204" charset="-122"/>
                <a:cs typeface="+mn-lt"/>
                <a:sym typeface="+mn-ea"/>
              </a:rPr>
              <a:t>，Publish the bootstrap feature. After success, there will be a pop-up prompt.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(发布引导功能。成功后会有弹窗提示)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837180" y="2178050"/>
            <a:ext cx="9355005" cy="4680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标题 1"/>
          <p:cNvSpPr txBox="1">
            <a:spLocks noGrp="1"/>
          </p:cNvSpPr>
          <p:nvPr>
            <p:custDataLst>
              <p:tags r:id="rId1"/>
            </p:custDataLst>
          </p:nvPr>
        </p:nvSpPr>
        <p:spPr>
          <a:xfrm>
            <a:off x="0" y="159"/>
            <a:ext cx="10515600" cy="4603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lang="en-US" altLang="zh-CN" sz="2400" b="1">
                <a:latin typeface="+mn-lt"/>
                <a:ea typeface="+mn-ea"/>
                <a:cs typeface="+mn-cs"/>
                <a:sym typeface="+mn-ea"/>
              </a:rPr>
              <a:t>9.  How-to guide for advertising launches</a:t>
            </a: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广告发布操作指南</a:t>
            </a: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en-US" altLang="zh-CN" sz="1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228600" y="468630"/>
            <a:ext cx="11964035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ea typeface="微软雅黑" panose="020B0503020204020204" charset="-122"/>
                <a:cs typeface="+mn-lt"/>
              </a:rPr>
              <a:t>The ad slot on the left can be used to serve image ads or video ads as needed.</a:t>
            </a:r>
            <a:endParaRPr lang="en-US" altLang="zh-CN">
              <a:ea typeface="微软雅黑" panose="020B0503020204020204" charset="-122"/>
              <a:cs typeface="+mn-lt"/>
            </a:endParaRPr>
          </a:p>
          <a:p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左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</a:rPr>
              <a:t>侧广告位可以根据需要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投放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</a:rPr>
              <a:t>图片广告或视频广告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>
                <a:ea typeface="微软雅黑" panose="020B0503020204020204" charset="-122"/>
                <a:cs typeface="+mn-lt"/>
              </a:rPr>
              <a:t>For details of the advertising operation, please refer to the document "02 Advertising upload for reception robot".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详细的广告投放操作，请参看文档《02 接待机器人广告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发布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》 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b="1">
                <a:sym typeface="+mn-ea"/>
              </a:rPr>
              <a:t> </a:t>
            </a:r>
            <a:endParaRPr lang="en-US" altLang="zh-CN" b="1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836545" y="1609725"/>
            <a:ext cx="9356400" cy="524842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203430" cy="685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COMMONDATA" val="eyJoZGlkIjoiN2M3NTBkYmM5YTE1NWU3MDgzZjg2NzBjYjA4Yzc1ODUifQ=="/>
  <p:tag name="KSO_WPP_MARK_KEY" val="7b01b0e6-90e2-48b3-bfda-5f7dff8bfd8b"/>
  <p:tag name="commondata" val="eyJoZGlkIjoiMWFlN2RjMGY5ZjU2Y2YzMmY5Y2VjNDE4ZWE2ZDA2NzY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6871</Words>
  <Application>WPS 演示</Application>
  <PresentationFormat>宽屏</PresentationFormat>
  <Paragraphs>193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Wingdings</vt:lpstr>
      <vt:lpstr>Calibri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梁盛华</cp:lastModifiedBy>
  <cp:revision>86</cp:revision>
  <dcterms:created xsi:type="dcterms:W3CDTF">2023-09-01T05:30:00Z</dcterms:created>
  <dcterms:modified xsi:type="dcterms:W3CDTF">2024-04-10T08:55:09Z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2C4483D6AFBC4861A65A0238A5FADD8B_13</vt:lpwstr>
  </property>
  <property fmtid="{D5CDD505-2E9C-101B-9397-08002B2CF9AE}" pid="3" name="KSOProductBuildVer">
    <vt:lpwstr>2052-12.1.0.16417</vt:lpwstr>
  </property>
</Properties>
</file>